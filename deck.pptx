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介绍文章的研究问题：日尺度和多时段下的强约束使可行解生成困难。作者为黄显峰、王宁、刘志佳、方国华、钱骏，论文发表于水利水电科技进展44卷4期51—58页。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时段数增加意味着更多相互关联的决策变量。某时段库容改变会影响前后时段的流量边界。传统算法可能在大量不可行方案中搜索，无法依靠固定的逐点边界判断整体可行性。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注意模型有三个显式优化指标：最高水位最小、最大下泄流量最小、总发电量最大。生态需求转化为最小下泄流量约束，并非第四个独立优化目标。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图1是方法示意，不是工程实测过程。第2和第4时段违反约束，会使相邻时段产生实际不可能的巨大发电流量。若直接以目标值选优，可能鼓励种群向不可行域移动。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先顺时序推算蓄水量允许范围，再从后续合理节点逆向推算，取区间中点生成参考过程线。作者明确指出该参考过程仍不一定可行，参考目标值只是更可信的近似评价。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偏移值为库容偏离合理范围的绝对差与该时段库容的比值，偏移度为各时段之和。潜力目标值Pq来自罚函数评价。P由Pq与Pc加权。偏移度越大，按原文公式潜力值权重越低。权重越界截断等实现细节原文未明确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高于允许范围的点向下变异，低于允许范围的点向上变异。可行范围内的点仍可能变异，并根据相邻时段协调。操作包含概率分支，不能理解为逐点投影后全部可行。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用各水库各时间节点蓄水量生成种群。计算参考与潜力目标值，选择交叉后通过引导算子变异，父子代合并后按非支配序和拥挤距离筛选。循环至最大迭代次数，得到末代种群。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金溪9座电站，只有池潭具有不完全年调节能力，其余无调节能力。以平水年径流和365日时段建模。两组实验基线不同、预算不同，不能混用耗时。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表2各算法均运行20000次。改进算法偏移度0，PSO48.36、GA28.67、NSGA-II34.58。原文图4是最终解集最小偏移度随迭代的变化，不能当作可行个体比例。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表3前三列是多次计算所得解集中各目标函数最优值的平均值，来自不同极端解，不能拼接为同一调度方案。原文没有给出这些均值的误差范围，本页不绘制误差线。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三行各是可行调度方案，目标间存在权衡。原文表4中最大下泄最小方案最高水位276m，高于最高水位最小方案275m，不应把各行最优值合并。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作者指出变异算子设置影响效率和解集质量。本文没有分别移除参考目标值、偏移加权和变异引导的消融对照，难以独立量化每部分贡献。工程验证基于单流域平水年。权重与概率分支在实现时需逐项核对。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报告结论：强约束跨时段耦合导致虚假目标评价，引入参考目标值、潜力目标值、偏移度与变异引导，改善算例的可行性和多目标结果。但工程算例优于基线不证明已获得真实Pareto前沿。文本、表格与流程节点为原生对象，可编辑；原文图件是图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83343"/>
                </a:solidFill>
                <a:latin typeface="Microsoft YaHei"/>
              </a:defRPr>
            </a:pPr>
            <a:r>
              <a:t>基于改进 NSGA-II 算法的</a:t>
            </a:r>
          </a:p>
          <a:p>
            <a:pPr>
              <a:spcAft>
                <a:spcPts val="1200"/>
              </a:spcAft>
              <a:defRPr sz="2800" b="1">
                <a:solidFill>
                  <a:srgbClr val="183343"/>
                </a:solidFill>
                <a:latin typeface="Microsoft YaHei"/>
              </a:defRPr>
            </a:pPr>
            <a:r>
              <a:t>梯级水库多目标优化调度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76774"/>
                </a:solidFill>
                <a:latin typeface="Microsoft YaHei"/>
              </a:defRPr>
            </a:pPr>
            <a:r>
              <a:t>黄显峰等（2024） / 中文文献汇报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76774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287D8D"/>
                </a:solidFill>
                <a:latin typeface="Microsoft YaHei"/>
              </a:defRPr>
            </a:pPr>
            <a:r>
              <a:t>用可行性信息改善解的评价与种群进化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83343"/>
                </a:solidFill>
                <a:latin typeface="Microsoft YaHei"/>
              </a:defRPr>
            </a:pPr>
            <a:r>
              <a:t>黄显峰、王宁、刘志佳、方国华、钱骏</a:t>
            </a:r>
          </a:p>
          <a:p>
            <a:pPr>
              <a:spcAft>
                <a:spcPts val="1200"/>
              </a:spcAft>
              <a:defRPr sz="1700" b="0">
                <a:solidFill>
                  <a:srgbClr val="183343"/>
                </a:solidFill>
                <a:latin typeface="Microsoft YaHei"/>
              </a:defRPr>
            </a:pPr>
            <a:r>
              <a:t>《水利水电科技进展》2024，44(4)：51–58</a:t>
            </a:r>
          </a:p>
          <a:p>
            <a:pPr>
              <a:spcAft>
                <a:spcPts val="1200"/>
              </a:spcAft>
              <a:defRPr sz="1700" b="0">
                <a:solidFill>
                  <a:srgbClr val="183343"/>
                </a:solidFill>
                <a:latin typeface="Microsoft YaHei"/>
              </a:defRPr>
            </a:pPr>
            <a:r>
              <a:t>DOI：10.3880/j.issn.1006-7647.2024.04.008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83343"/>
                </a:solidFill>
                <a:latin typeface="Microsoft YaHei"/>
              </a:defRPr>
            </a:pPr>
            <a:r>
              <a:t>日尺度强约束使可行解更难生成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76774"/>
                </a:solidFill>
                <a:latin typeface="Microsoft YaHei"/>
              </a:defRPr>
            </a:pPr>
            <a:r>
              <a:t>依据：引言、第2.1节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76774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87D8D"/>
                </a:solidFill>
                <a:latin typeface="Microsoft YaHei"/>
              </a:defRPr>
            </a:pPr>
            <a:r>
              <a:t>变量跨时段关联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83343"/>
                </a:solidFill>
                <a:latin typeface="Microsoft YaHei"/>
              </a:defRPr>
            </a:pPr>
            <a:r>
              <a:t>本时段库容变化会影响后续可行区间。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87D8D"/>
                </a:solidFill>
                <a:latin typeface="Microsoft YaHei"/>
              </a:defRPr>
            </a:pPr>
            <a:r>
              <a:t>不可行解可能获得虚假高收益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8211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83343"/>
                </a:solidFill>
                <a:latin typeface="Microsoft YaHei"/>
              </a:defRPr>
            </a:pPr>
            <a:r>
              <a:t>局部异常蓄泄过程扭曲目标值评价。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87D8D"/>
                </a:solidFill>
                <a:latin typeface="Microsoft YaHei"/>
              </a:defRPr>
            </a:pPr>
            <a:r>
              <a:t>改进目标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7939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83343"/>
                </a:solidFill>
                <a:latin typeface="Microsoft YaHei"/>
              </a:defRPr>
            </a:pPr>
            <a:r>
              <a:t>更合理地评价解，并将变异引向可行域。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83343"/>
                </a:solidFill>
                <a:latin typeface="Microsoft YaHei"/>
              </a:defRPr>
            </a:pPr>
            <a:r>
              <a:t>模型同时考虑发电、防洪与生态需求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76774"/>
                </a:solidFill>
                <a:latin typeface="Microsoft YaHei"/>
              </a:defRPr>
            </a:pPr>
            <a:r>
              <a:t>依据：第1节，式1–9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76774"/>
                </a:solidFill>
                <a:latin typeface="Microsoft YaHei"/>
              </a:defRPr>
            </a:pPr>
            <a:r>
              <a:t>03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2179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目标或约束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模型处理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方向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上游防洪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调度期最高水位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最小化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下游防洪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调度期最大下泄流量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最小化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发电效益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梯级总发电量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最大化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生态需求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最小生态下泄流量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作为约束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7150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87D8D"/>
                </a:solidFill>
                <a:latin typeface="Microsoft YaHei"/>
              </a:defRPr>
            </a:pPr>
            <a:r>
              <a:t>水量平衡、水位、流量、出力和上下游联系共同限制可行域。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83343"/>
                </a:solidFill>
                <a:latin typeface="Microsoft YaHei"/>
              </a:defRPr>
            </a:pPr>
            <a:r>
              <a:t>异常蓄泄过程会产生虚假的目标优势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76774"/>
                </a:solidFill>
                <a:latin typeface="Microsoft YaHei"/>
              </a:defRPr>
            </a:pPr>
            <a:r>
              <a:t>依据：第2.1节，原文图1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76774"/>
                </a:solidFill>
                <a:latin typeface="Microsoft YaHei"/>
              </a:defRPr>
            </a:pPr>
            <a:r>
              <a:t>04</a:t>
            </a:r>
          </a:p>
        </p:txBody>
      </p:sp>
      <p:pic>
        <p:nvPicPr>
          <p:cNvPr id="5" name="Picture 4" descr="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598" y="1463040"/>
            <a:ext cx="6571923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828800"/>
            <a:ext cx="2834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183343"/>
                </a:solidFill>
                <a:latin typeface="Microsoft YaHei"/>
              </a:defRPr>
            </a:pPr>
            <a:r>
              <a:t>不可行时段</a:t>
            </a:r>
          </a:p>
          <a:p>
            <a:pPr>
              <a:spcAft>
                <a:spcPts val="1200"/>
              </a:spcAft>
              <a:defRPr sz="2000" b="0">
                <a:solidFill>
                  <a:srgbClr val="183343"/>
                </a:solidFill>
                <a:latin typeface="Microsoft YaHei"/>
              </a:defRPr>
            </a:pPr>
            <a:r>
              <a:t>影响相邻时段收益</a:t>
            </a:r>
          </a:p>
          <a:p>
            <a:pPr>
              <a:spcAft>
                <a:spcPts val="1200"/>
              </a:spcAft>
              <a:defRPr sz="2000" b="0">
                <a:solidFill>
                  <a:srgbClr val="18334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2000" b="0">
                <a:solidFill>
                  <a:srgbClr val="183343"/>
                </a:solidFill>
                <a:latin typeface="Microsoft YaHei"/>
              </a:defRPr>
            </a:pPr>
            <a:r>
              <a:t>仅比较目标值</a:t>
            </a:r>
          </a:p>
          <a:p>
            <a:pPr>
              <a:spcAft>
                <a:spcPts val="1200"/>
              </a:spcAft>
              <a:defRPr sz="2000" b="0">
                <a:solidFill>
                  <a:srgbClr val="183343"/>
                </a:solidFill>
                <a:latin typeface="Microsoft YaHei"/>
              </a:defRPr>
            </a:pPr>
            <a:r>
              <a:t>可能误判解的质量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87D8D"/>
                </a:solidFill>
                <a:latin typeface="Microsoft YaHei"/>
              </a:defRPr>
            </a:pPr>
            <a:r>
              <a:t>算法需要识别目标值中由约束破坏造成的虚假成分。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83343"/>
                </a:solidFill>
                <a:latin typeface="Microsoft YaHei"/>
              </a:defRPr>
            </a:pPr>
            <a:r>
              <a:t>参考目标值利用近似修复过程评价解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76774"/>
                </a:solidFill>
                <a:latin typeface="Microsoft YaHei"/>
              </a:defRPr>
            </a:pPr>
            <a:r>
              <a:t>依据：第2.2.1节，原文图2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76774"/>
                </a:solidFill>
                <a:latin typeface="Microsoft YaHei"/>
              </a:defRPr>
            </a:pPr>
            <a:r>
              <a:t>05</a:t>
            </a:r>
          </a:p>
        </p:txBody>
      </p:sp>
      <p:pic>
        <p:nvPicPr>
          <p:cNvPr id="5" name="Picture 4" descr="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902" y="1463040"/>
            <a:ext cx="6525314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783080"/>
            <a:ext cx="283464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83343"/>
                </a:solidFill>
                <a:latin typeface="Microsoft YaHei"/>
              </a:defRPr>
            </a:pPr>
            <a:r>
              <a:t>顺向推算允许范围</a:t>
            </a:r>
          </a:p>
          <a:p>
            <a:pPr>
              <a:spcAft>
                <a:spcPts val="1200"/>
              </a:spcAft>
              <a:defRPr sz="1800" b="0">
                <a:solidFill>
                  <a:srgbClr val="18334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83343"/>
                </a:solidFill>
                <a:latin typeface="Microsoft YaHei"/>
              </a:defRPr>
            </a:pPr>
            <a:r>
              <a:t>逆向构造参考过程</a:t>
            </a:r>
          </a:p>
          <a:p>
            <a:pPr>
              <a:spcAft>
                <a:spcPts val="1200"/>
              </a:spcAft>
              <a:defRPr sz="1800" b="0">
                <a:solidFill>
                  <a:srgbClr val="18334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83343"/>
                </a:solidFill>
                <a:latin typeface="Microsoft YaHei"/>
              </a:defRPr>
            </a:pPr>
            <a:r>
              <a:t>计算参考目标值 Pc</a:t>
            </a:r>
          </a:p>
          <a:p>
            <a:pPr>
              <a:spcAft>
                <a:spcPts val="1200"/>
              </a:spcAft>
              <a:defRPr sz="1800" b="0">
                <a:solidFill>
                  <a:srgbClr val="18334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83343"/>
                </a:solidFill>
                <a:latin typeface="Microsoft YaHei"/>
              </a:defRPr>
            </a:pPr>
            <a:r>
              <a:t>参考过程未必可行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87D8D"/>
                </a:solidFill>
                <a:latin typeface="Microsoft YaHei"/>
              </a:defRPr>
            </a:pPr>
            <a:r>
              <a:t>Pc削弱虚假收益的影响，但不提供可行性保证。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83343"/>
                </a:solidFill>
                <a:latin typeface="Microsoft YaHei"/>
              </a:defRPr>
            </a:pPr>
            <a:r>
              <a:t>偏移度参与目标评价的加权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76774"/>
                </a:solidFill>
                <a:latin typeface="Microsoft YaHei"/>
              </a:defRPr>
            </a:pPr>
            <a:r>
              <a:t>依据：第2.2.2节，式10–12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76774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287D8D"/>
                </a:solidFill>
                <a:latin typeface="Microsoft YaHei"/>
              </a:defRPr>
            </a:pPr>
            <a:r>
              <a:t>P = wPq + (1 − w)Pc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500" b="0">
                <a:solidFill>
                  <a:srgbClr val="183343"/>
                </a:solidFill>
                <a:latin typeface="Microsoft YaHei"/>
              </a:defRPr>
            </a:pPr>
            <a:r>
              <a:t>w = 1 − φ/T        φ = Σφt        φt = ΔVt/Vt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749039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36576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符号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Pc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参考过程线对应的目标值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Pq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结合约束惩罚计算的潜力目标值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φ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整个调度周期的约束偏移程度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7150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87D8D"/>
                </a:solidFill>
                <a:latin typeface="Microsoft YaHei"/>
              </a:defRPr>
            </a:pPr>
            <a:r>
              <a:t>偏移度越大，潜力目标值在综合评价中的权重越低。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83343"/>
                </a:solidFill>
                <a:latin typeface="Microsoft YaHei"/>
              </a:defRPr>
            </a:pPr>
            <a:r>
              <a:t>变异方向根据允许范围与相邻状态调整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76774"/>
                </a:solidFill>
                <a:latin typeface="Microsoft YaHei"/>
              </a:defRPr>
            </a:pPr>
            <a:r>
              <a:t>依据：第2.3节，原文图3、式13–18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76774"/>
                </a:solidFill>
                <a:latin typeface="Microsoft YaHei"/>
              </a:defRPr>
            </a:pPr>
            <a:r>
              <a:t>07</a:t>
            </a:r>
          </a:p>
        </p:txBody>
      </p:sp>
      <p:pic>
        <p:nvPicPr>
          <p:cNvPr id="5" name="Picture 4" descr="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75" y="1463040"/>
            <a:ext cx="6667168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737360"/>
            <a:ext cx="28346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83343"/>
                </a:solidFill>
                <a:latin typeface="Microsoft YaHei"/>
              </a:defRPr>
            </a:pPr>
            <a:r>
              <a:t>高于允许上限</a:t>
            </a:r>
          </a:p>
          <a:p>
            <a:pPr>
              <a:spcAft>
                <a:spcPts val="1200"/>
              </a:spcAft>
              <a:defRPr sz="1800" b="0">
                <a:solidFill>
                  <a:srgbClr val="183343"/>
                </a:solidFill>
                <a:latin typeface="Microsoft YaHei"/>
              </a:defRPr>
            </a:pPr>
            <a:r>
              <a:t>向下调整</a:t>
            </a:r>
          </a:p>
          <a:p>
            <a:pPr>
              <a:spcAft>
                <a:spcPts val="1200"/>
              </a:spcAft>
              <a:defRPr sz="1800" b="0">
                <a:solidFill>
                  <a:srgbClr val="18334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83343"/>
                </a:solidFill>
                <a:latin typeface="Microsoft YaHei"/>
              </a:defRPr>
            </a:pPr>
            <a:r>
              <a:t>低于允许下限</a:t>
            </a:r>
          </a:p>
          <a:p>
            <a:pPr>
              <a:spcAft>
                <a:spcPts val="1200"/>
              </a:spcAft>
              <a:defRPr sz="1800" b="0">
                <a:solidFill>
                  <a:srgbClr val="183343"/>
                </a:solidFill>
                <a:latin typeface="Microsoft YaHei"/>
              </a:defRPr>
            </a:pPr>
            <a:r>
              <a:t>向上调整</a:t>
            </a:r>
          </a:p>
          <a:p>
            <a:pPr>
              <a:spcAft>
                <a:spcPts val="1200"/>
              </a:spcAft>
              <a:defRPr sz="1800" b="0">
                <a:solidFill>
                  <a:srgbClr val="183343"/>
                </a:solidFill>
                <a:latin typeface="Microsoft YaHei"/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183343"/>
                </a:solidFill>
                <a:latin typeface="Microsoft YaHei"/>
              </a:defRPr>
            </a:pPr>
            <a:r>
              <a:t>范围内节点</a:t>
            </a:r>
          </a:p>
          <a:p>
            <a:pPr>
              <a:spcAft>
                <a:spcPts val="1200"/>
              </a:spcAft>
              <a:defRPr sz="1800" b="0">
                <a:solidFill>
                  <a:srgbClr val="183343"/>
                </a:solidFill>
                <a:latin typeface="Microsoft YaHei"/>
              </a:defRPr>
            </a:pPr>
            <a:r>
              <a:t>结合前后状态调整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87D8D"/>
                </a:solidFill>
                <a:latin typeface="Microsoft YaHei"/>
              </a:defRPr>
            </a:pPr>
            <a:r>
              <a:t>变异引导提高可行性，不等同于每次变异都得到可行解。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83343"/>
                </a:solidFill>
                <a:latin typeface="Microsoft YaHei"/>
              </a:defRPr>
            </a:pPr>
            <a:r>
              <a:t>改进保留NSGA-II的排序与精英保留框架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76774"/>
                </a:solidFill>
                <a:latin typeface="Microsoft YaHei"/>
              </a:defRPr>
            </a:pPr>
            <a:r>
              <a:t>整理自：第2.4节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76774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87D8D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25603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343"/>
                </a:solidFill>
                <a:latin typeface="Microsoft YaHei"/>
              </a:defRPr>
            </a:pPr>
            <a:r>
              <a:t>初始种群与目标评价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87D8D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788920"/>
            <a:ext cx="25603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343"/>
                </a:solidFill>
                <a:latin typeface="Microsoft YaHei"/>
              </a:defRPr>
            </a:pPr>
            <a:r>
              <a:t>选择、交叉、引导变异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87D8D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88920"/>
            <a:ext cx="25603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343"/>
                </a:solidFill>
                <a:latin typeface="Microsoft YaHei"/>
              </a:defRPr>
            </a:pPr>
            <a:r>
              <a:t>父子代合并排序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82880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287D8D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788920"/>
            <a:ext cx="25603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83343"/>
                </a:solidFill>
                <a:latin typeface="Microsoft YaHei"/>
              </a:defRPr>
            </a:pPr>
            <a:r>
              <a:t>拥挤距离与精英保留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1772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400" b="0">
                <a:solidFill>
                  <a:srgbClr val="183343"/>
                </a:solidFill>
                <a:latin typeface="Microsoft YaHei"/>
              </a:defRPr>
            </a:pPr>
            <a:r>
              <a:t>循环迭代，输出用于多目标决策的解集。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83343"/>
                </a:solidFill>
                <a:latin typeface="Microsoft YaHei"/>
              </a:defRPr>
            </a:pPr>
            <a:r>
              <a:t>金溪算例用365个日时段检验两类性能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76774"/>
                </a:solidFill>
                <a:latin typeface="Microsoft YaHei"/>
              </a:defRPr>
            </a:pPr>
            <a:r>
              <a:t>依据：第3.1–3.2节、表1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76774"/>
                </a:solidFill>
                <a:latin typeface="Microsoft YaHei"/>
              </a:defRPr>
            </a:pPr>
            <a:r>
              <a:t>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62179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设置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求可行解实验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多目标优化实验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时间尺度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365个日时段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365个日时段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迭代预算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20000次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500000次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基线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PSO、GA、NSGA-II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MODP、MOPSO、MOGA、NSGA-II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评价重点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偏移度、运行时间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各目标最优值均值、耗时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7150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87D8D"/>
                </a:solidFill>
                <a:latin typeface="Microsoft YaHei"/>
              </a:defRPr>
            </a:pPr>
            <a:r>
              <a:t>807.46秒属于求可行解实验，20196.47秒属于多目标优化实验。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83343"/>
                </a:solidFill>
                <a:latin typeface="Microsoft YaHei"/>
              </a:defRPr>
            </a:pPr>
            <a:r>
              <a:t>求可行解实验中，改进算法的偏移度降为0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76774"/>
                </a:solidFill>
                <a:latin typeface="Microsoft YaHei"/>
              </a:defRPr>
            </a:pPr>
            <a:r>
              <a:t>依据：第3.2节、表2与原文图4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76774"/>
                </a:solidFill>
                <a:latin typeface="Microsoft YaHei"/>
              </a:defRPr>
            </a:pPr>
            <a:r>
              <a:t>10</a:t>
            </a:r>
          </a:p>
        </p:txBody>
      </p:sp>
      <p:pic>
        <p:nvPicPr>
          <p:cNvPr id="5" name="Picture 4" descr="f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604" y="1417320"/>
            <a:ext cx="6459271" cy="402336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09560" y="1828800"/>
          <a:ext cx="36118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3960"/>
                <a:gridCol w="1203960"/>
                <a:gridCol w="1203960"/>
              </a:tblGrid>
              <a:tr h="493776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算法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偏移度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耗时/s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PSO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48.36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1067.85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28.67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1862.49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NSGA-II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34.58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1184.52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改进NSGA-II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807.46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7150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87D8D"/>
                </a:solidFill>
                <a:latin typeface="Microsoft YaHei"/>
              </a:defRPr>
            </a:pPr>
            <a:r>
              <a:t>20000次迭代预算下，改进算法在该算例中达到可行域。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83343"/>
                </a:solidFill>
                <a:latin typeface="Microsoft YaHei"/>
              </a:defRPr>
            </a:pPr>
            <a:r>
              <a:t>多目标优化同时改善发电与洪峰指标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76774"/>
                </a:solidFill>
                <a:latin typeface="Microsoft YaHei"/>
              </a:defRPr>
            </a:pPr>
            <a:r>
              <a:t>依据：表3，均为500000次迭代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76774"/>
                </a:solidFill>
                <a:latin typeface="Microsoft YaHei"/>
              </a:defRPr>
            </a:pPr>
            <a:r>
              <a:t>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638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算法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发电/亿kW·h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最高水位/m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最大下泄/m³·s⁻¹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耗时/s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MODP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19.9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275.01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2127.12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67328.59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MOPSO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275.13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2980.66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26697.95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MOGA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20.9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275.00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2408.43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46549.36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NSGA-II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21.3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275.04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2644.57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29703.58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改进NSGA-II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25.6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275.00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1326.49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20196.47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07492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576774"/>
                </a:solidFill>
                <a:latin typeface="Microsoft YaHei"/>
              </a:defRPr>
            </a:pPr>
            <a:r>
              <a:t>前三项为各目标最优值的均值，不对应同一个调度方案。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87D8D"/>
                </a:solidFill>
                <a:latin typeface="Microsoft YaHei"/>
              </a:defRPr>
            </a:pPr>
            <a:r>
              <a:t>相对NSGA-II：发电 +20.19%，最大下泄 −49.84%，耗时 −32.01%。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83343"/>
                </a:solidFill>
                <a:latin typeface="Microsoft YaHei"/>
              </a:defRPr>
            </a:pPr>
            <a:r>
              <a:t>不同偏好的典型方案体现发电与防洪权衡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76774"/>
                </a:solidFill>
                <a:latin typeface="Microsoft YaHei"/>
              </a:defRPr>
            </a:pPr>
            <a:r>
              <a:t>依据：表4，仅列改进NSGA-II方案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76774"/>
                </a:solidFill>
                <a:latin typeface="Microsoft YaHei"/>
              </a:defRPr>
            </a:pPr>
            <a:r>
              <a:t>12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64008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方案偏好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发电/亿kW·h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最高水位/m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最大下泄/m³·s⁻¹</a:t>
                      </a:r>
                    </a:p>
                  </a:txBody>
                  <a:tcPr>
                    <a:solidFill>
                      <a:srgbClr val="287D8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发电量最大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25.8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276.00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2969.14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最高水位最小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275.00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2677.98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最大下泄最小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22.3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276.00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183343"/>
                          </a:solidFill>
                          <a:latin typeface="Microsoft YaHei"/>
                        </a:defRPr>
                      </a:pPr>
                      <a:r>
                        <a:t>1847.42</a:t>
                      </a:r>
                    </a:p>
                  </a:txBody>
                  <a:tcPr>
                    <a:solidFill>
                      <a:srgbClr val="F0F5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7150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87D8D"/>
                </a:solidFill>
                <a:latin typeface="Microsoft YaHei"/>
              </a:defRPr>
            </a:pPr>
            <a:r>
              <a:t>解集为决策者提供选项，单一指标最优并不意味着全部目标同时最优。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83343"/>
                </a:solidFill>
                <a:latin typeface="Microsoft YaHei"/>
              </a:defRPr>
            </a:pPr>
            <a:r>
              <a:t>改进效果仍需消融与跨情景验证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76774"/>
                </a:solidFill>
                <a:latin typeface="Microsoft YaHei"/>
              </a:defRPr>
            </a:pPr>
            <a:r>
              <a:t>依据：第4节；验证建议为汇报者评议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76774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87D8D"/>
                </a:solidFill>
                <a:latin typeface="Microsoft YaHei"/>
              </a:defRPr>
            </a:pPr>
            <a:r>
              <a:t>作者指出的局限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8483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83343"/>
                </a:solidFill>
                <a:latin typeface="Microsoft YaHei"/>
              </a:defRPr>
            </a:pPr>
            <a:r>
              <a:t>变异方式影响运算效率与解集质量。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87D8D"/>
                </a:solidFill>
                <a:latin typeface="Microsoft YaHei"/>
              </a:defRPr>
            </a:pPr>
            <a:r>
              <a:t>证据边界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8211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83343"/>
                </a:solidFill>
                <a:latin typeface="Microsoft YaHei"/>
              </a:defRPr>
            </a:pPr>
            <a:r>
              <a:t>单流域平水年，缺少改进模块消融。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87D8D"/>
                </a:solidFill>
                <a:latin typeface="Microsoft YaHei"/>
              </a:defRPr>
            </a:pPr>
            <a:r>
              <a:t>可补充的验证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79392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83343"/>
                </a:solidFill>
                <a:latin typeface="Microsoft YaHei"/>
              </a:defRPr>
            </a:pPr>
            <a:r>
              <a:t>跨水情、多随机种子、HV或IGD及运行预算比较。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183343"/>
                </a:solidFill>
                <a:latin typeface="Microsoft YaHei"/>
              </a:defRPr>
            </a:pPr>
            <a:r>
              <a:t>可行性信息改善了目标评价与进化方向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55664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576774"/>
                </a:solidFill>
                <a:latin typeface="Microsoft YaHei"/>
              </a:defRPr>
            </a:pPr>
            <a:r>
              <a:t>总结依据：第2–4节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09960" y="642823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76774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287D8D"/>
                </a:solidFill>
                <a:latin typeface="Microsoft YaHei"/>
              </a:defRPr>
            </a:pPr>
            <a:r>
              <a:t>核心贡献：将约束破坏信息用于解评价和变异引导。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300" b="0">
                <a:solidFill>
                  <a:srgbClr val="183343"/>
                </a:solidFill>
                <a:latin typeface="Microsoft YaHei"/>
              </a:defRPr>
            </a:pPr>
            <a:r>
              <a:t>算例证据：更早进入可行域，获得更优的目标极值。</a:t>
            </a:r>
          </a:p>
          <a:p>
            <a:pPr>
              <a:spcAft>
                <a:spcPts val="1200"/>
              </a:spcAft>
              <a:defRPr sz="2300" b="0">
                <a:solidFill>
                  <a:srgbClr val="183343"/>
                </a:solidFill>
                <a:latin typeface="Microsoft YaHei"/>
              </a:defRPr>
            </a:pPr>
            <a:r>
              <a:t>适用边界：尚不能证明已达到真实 Pareto 前沿。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15000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287D8D"/>
                </a:solidFill>
                <a:latin typeface="Microsoft YaHei"/>
              </a:defRPr>
            </a:pPr>
            <a:r>
              <a:t>讨论：如何分别验证“评价改进”和“变异引导”的贡献？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