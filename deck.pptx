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本报告围绕搜索步长如何影响梯级水库优化结果展开。作者为方国华、郑旺、吴承君、颜敏。论文发表于水电能源科学42卷9期179—184页。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DDDP的组合数量随水库数快速增长。ODDDP通过代表性组合降低计算规模，但沿用逐渐缩小的离散增量，初期搜索偏离优良区域后，后期可能难以修正。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论文以一年为调度期，目标表述为梯级总出力最大，正文也使用总发电量表述。原文量纲口径存在不一致，本报告不换算绝对发电量。约束包括水量平衡、库容或水位、出库流量、出力、发电流量、水头及上下游耦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图1为原文寻优过程示意图，不应理解为工程结果的收敛曲线。高斯变量使步长随机变化，余弦平方控制标准差，使全局与局部搜索交替进行。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初始水位过程可用等流量或随机方法生成。正交系数乘以高斯增量得到候选状态，动态规划寻找当前候选集中的最优路径。注意当前候选集最优不等同于连续问题全局最优。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测试函数验证收敛精度，Schaffer用于100组初始解及参数敏感性实验。工程采用2018年实际入流。4座日调节水库按出入库平衡模拟，7座参与正交状态组合。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Schaffer最小值为0，M-IWO-ODDDP结果接近0。Shubert最优值约为−186.7309，两种改进算法均接近该值。这里只展示论文给出的结果，不能据此判断高维问题的普遍性能。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11级混联水库群包含支流和干流耦合。索风营、格里桥、思林、沙沱4座日调节水库按出入库平衡。7因素3水平正交表L18生成18种组合。初始解采用等流量法，标准差初值10、终值0.001。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原文图4比较不同最大迭代次数设置的最终优化结果与耗时，不是一次运行的逐轮收敛轨迹。改进算法在较小迭代预算下结果波动明显，增加预算后趋稳但仍有波动。两者同预算耗时无明显差别。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总出力原表数值3927.37至3939.14，原表单位与图4及目标口径不一致，故此页仅显示原文百分比。普定出力提高12.70%，总弃水流量从259.11降至248.56 m³/s。收益不是各站同步增加，构皮滩等水库略降。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保留图5四面板与图例。原文解释普定6月末改进方案蓄至汛限水位，减少6月弃水，部分水库较高水位发挥水头效益。洪家渡与构皮滩的趋势还受汛限和末水位约束影响。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贡献是保留正交降维并改变扰动尺度调度。原文承认工程结果稳定性较差。后续可做多随机种子、等时间预算、丰枯年份及跨流域验证，报告均值与标准差。不能把候选集最优和全局最优混同。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800" b="1">
                <a:solidFill>
                  <a:srgbClr val="183343"/>
                </a:solidFill>
                <a:latin typeface="Microsoft YaHei"/>
              </a:defRPr>
            </a:pPr>
            <a:r>
              <a:t>梯级水库优化调度的</a:t>
            </a:r>
          </a:p>
          <a:p>
            <a:pPr>
              <a:spcAft>
                <a:spcPts val="1200"/>
              </a:spcAft>
              <a:defRPr sz="2800" b="1">
                <a:solidFill>
                  <a:srgbClr val="183343"/>
                </a:solidFill>
                <a:latin typeface="Microsoft YaHei"/>
              </a:defRPr>
            </a:pPr>
            <a:r>
              <a:t>改进 ODDDP 算法研究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55664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76774"/>
                </a:solidFill>
                <a:latin typeface="Microsoft YaHei"/>
              </a:defRPr>
            </a:pPr>
            <a:r>
              <a:t>文献汇报 / 方国华等，2024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76774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240280"/>
            <a:ext cx="10698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800" b="1">
                <a:solidFill>
                  <a:srgbClr val="287D8D"/>
                </a:solidFill>
                <a:latin typeface="Microsoft YaHei"/>
              </a:defRPr>
            </a:pPr>
            <a:r>
              <a:t>高斯扰动与周期性步长如何改善局部搜索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3192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183343"/>
                </a:solidFill>
                <a:latin typeface="Microsoft YaHei"/>
              </a:defRPr>
            </a:pPr>
            <a:r>
              <a:t>方国华、郑旺、吴承君、颜敏</a:t>
            </a:r>
          </a:p>
          <a:p>
            <a:pPr>
              <a:spcAft>
                <a:spcPts val="1200"/>
              </a:spcAft>
              <a:defRPr sz="1700" b="0">
                <a:solidFill>
                  <a:srgbClr val="183343"/>
                </a:solidFill>
                <a:latin typeface="Microsoft YaHei"/>
              </a:defRPr>
            </a:pPr>
            <a:r>
              <a:t>《水电能源科学》2024，42(9)：179–184</a:t>
            </a:r>
          </a:p>
          <a:p>
            <a:pPr>
              <a:spcAft>
                <a:spcPts val="1200"/>
              </a:spcAft>
              <a:defRPr sz="1700" b="0">
                <a:solidFill>
                  <a:srgbClr val="183343"/>
                </a:solidFill>
                <a:latin typeface="Microsoft YaHei"/>
              </a:defRPr>
            </a:pPr>
            <a:r>
              <a:t>DOI：10.20040/j.cnki.1000-7709.2024.20240662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800" b="1">
                <a:solidFill>
                  <a:srgbClr val="183343"/>
                </a:solidFill>
                <a:latin typeface="Microsoft YaHei"/>
              </a:defRPr>
            </a:pPr>
            <a:r>
              <a:t>正交降维后，搜索仍可能停在局部最优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55664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76774"/>
                </a:solidFill>
                <a:latin typeface="Microsoft YaHei"/>
              </a:defRPr>
            </a:pPr>
            <a:r>
              <a:t>依据：第1节、第3.1节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76774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287D8D"/>
                </a:solidFill>
                <a:latin typeface="Microsoft YaHei"/>
              </a:defRPr>
            </a:pPr>
            <a:r>
              <a:t>DDDP：状态组合过多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8483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183343"/>
                </a:solidFill>
                <a:latin typeface="Microsoft YaHei"/>
              </a:defRPr>
            </a:pPr>
            <a:r>
              <a:t>高维、非线性和多约束增加求解难度。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287D8D"/>
                </a:solidFill>
                <a:latin typeface="Microsoft YaHei"/>
              </a:defRPr>
            </a:pPr>
            <a:r>
              <a:t>ODDDP：用代表性组合减少计算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8211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183343"/>
                </a:solidFill>
                <a:latin typeface="Microsoft YaHei"/>
              </a:defRPr>
            </a:pPr>
            <a:r>
              <a:t>正交试验减轻计算规模，但保留原有步长机制。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287D8D"/>
                </a:solidFill>
                <a:latin typeface="Microsoft YaHei"/>
              </a:defRPr>
            </a:pPr>
            <a:r>
              <a:t>待解决：搜索范围收缩过早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7939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183343"/>
                </a:solidFill>
                <a:latin typeface="Microsoft YaHei"/>
              </a:defRPr>
            </a:pPr>
            <a:r>
              <a:t>初始解质量和局部最优仍影响最终方案。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800" b="1">
                <a:solidFill>
                  <a:srgbClr val="183343"/>
                </a:solidFill>
                <a:latin typeface="Microsoft YaHei"/>
              </a:defRPr>
            </a:pPr>
            <a:r>
              <a:t>本文优化的是受多种约束的梯级联合调度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55664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76774"/>
                </a:solidFill>
                <a:latin typeface="Microsoft YaHei"/>
              </a:defRPr>
            </a:pPr>
            <a:r>
              <a:t>依据：第2节，式1–8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76774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10515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800" b="1">
                <a:solidFill>
                  <a:srgbClr val="287D8D"/>
                </a:solidFill>
                <a:latin typeface="Microsoft YaHei"/>
              </a:defRPr>
            </a:pPr>
            <a:r>
              <a:t>目标：提高调度期内梯级整体发电收益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560320"/>
          <a:ext cx="106984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49240"/>
                <a:gridCol w="5349240"/>
              </a:tblGrid>
              <a:tr h="594360"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约束层次</a:t>
                      </a:r>
                    </a:p>
                  </a:txBody>
                  <a:tcPr>
                    <a:solidFill>
                      <a:srgbClr val="287D8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主要内容</a:t>
                      </a:r>
                    </a:p>
                  </a:txBody>
                  <a:tcPr>
                    <a:solidFill>
                      <a:srgbClr val="287D8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水库自身</a:t>
                      </a:r>
                    </a:p>
                  </a:txBody>
                  <a:tcPr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水量平衡、库容与水位边界</a:t>
                      </a:r>
                    </a:p>
                  </a:txBody>
                  <a:tcPr>
                    <a:solidFill>
                      <a:srgbClr val="F0F5F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电站运行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出力、发电流量与水头限制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梯级耦合</a:t>
                      </a:r>
                    </a:p>
                  </a:txBody>
                  <a:tcPr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上游出流与区间径流共同形成下游入流</a:t>
                      </a:r>
                    </a:p>
                  </a:txBody>
                  <a:tcPr>
                    <a:solidFill>
                      <a:srgbClr val="F0F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715000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287D8D"/>
                </a:solidFill>
                <a:latin typeface="Microsoft YaHei"/>
              </a:defRPr>
            </a:pPr>
            <a:r>
              <a:t>整体收益最大化允许部分水库出力略降。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800" b="1">
                <a:solidFill>
                  <a:srgbClr val="183343"/>
                </a:solidFill>
                <a:latin typeface="Microsoft YaHei"/>
              </a:defRPr>
            </a:pPr>
            <a:r>
              <a:t>周期性扰动让搜索范围能够再次扩大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55664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76774"/>
                </a:solidFill>
                <a:latin typeface="Microsoft YaHei"/>
              </a:defRPr>
            </a:pPr>
            <a:r>
              <a:t>依据：第3.2–3.3节，原文图1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76774"/>
                </a:solidFill>
                <a:latin typeface="Microsoft YaHei"/>
              </a:defRPr>
            </a:pPr>
            <a:r>
              <a:t>04</a:t>
            </a:r>
          </a:p>
        </p:txBody>
      </p:sp>
      <p:pic>
        <p:nvPicPr>
          <p:cNvPr id="5" name="Picture 4" descr="fig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59" y="1463040"/>
            <a:ext cx="685800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0" y="1828800"/>
            <a:ext cx="283464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183343"/>
                </a:solidFill>
                <a:latin typeface="Microsoft YaHei"/>
              </a:defRPr>
            </a:pPr>
            <a:r>
              <a:t>ODDDP</a:t>
            </a:r>
          </a:p>
          <a:p>
            <a:pPr>
              <a:spcAft>
                <a:spcPts val="1200"/>
              </a:spcAft>
              <a:defRPr sz="1700" b="0">
                <a:solidFill>
                  <a:srgbClr val="183343"/>
                </a:solidFill>
                <a:latin typeface="Microsoft YaHei"/>
              </a:defRPr>
            </a:pPr>
            <a:r>
              <a:t>步长逐渐缩小</a:t>
            </a:r>
          </a:p>
          <a:p>
            <a:pPr>
              <a:spcAft>
                <a:spcPts val="1200"/>
              </a:spcAft>
              <a:defRPr sz="1700" b="0">
                <a:solidFill>
                  <a:srgbClr val="183343"/>
                </a:solidFill>
                <a:latin typeface="Microsoft YaHei"/>
              </a:defRPr>
            </a:pPr>
          </a:p>
          <a:p>
            <a:pPr>
              <a:spcAft>
                <a:spcPts val="1200"/>
              </a:spcAft>
              <a:defRPr sz="1700" b="0">
                <a:solidFill>
                  <a:srgbClr val="183343"/>
                </a:solidFill>
                <a:latin typeface="Microsoft YaHei"/>
              </a:defRPr>
            </a:pPr>
            <a:r>
              <a:t>IWO-ODDDP</a:t>
            </a:r>
          </a:p>
          <a:p>
            <a:pPr>
              <a:spcAft>
                <a:spcPts val="1200"/>
              </a:spcAft>
              <a:defRPr sz="1700" b="0">
                <a:solidFill>
                  <a:srgbClr val="183343"/>
                </a:solidFill>
                <a:latin typeface="Microsoft YaHei"/>
              </a:defRPr>
            </a:pPr>
            <a:r>
              <a:t>随机扰动，总体收缩</a:t>
            </a:r>
          </a:p>
          <a:p>
            <a:pPr>
              <a:spcAft>
                <a:spcPts val="1200"/>
              </a:spcAft>
              <a:defRPr sz="1700" b="0">
                <a:solidFill>
                  <a:srgbClr val="183343"/>
                </a:solidFill>
                <a:latin typeface="Microsoft YaHei"/>
              </a:defRPr>
            </a:pPr>
          </a:p>
          <a:p>
            <a:pPr>
              <a:spcAft>
                <a:spcPts val="1200"/>
              </a:spcAft>
              <a:defRPr sz="1700" b="0">
                <a:solidFill>
                  <a:srgbClr val="183343"/>
                </a:solidFill>
                <a:latin typeface="Microsoft YaHei"/>
              </a:defRPr>
            </a:pPr>
            <a:r>
              <a:t>M-IWO-ODDDP</a:t>
            </a:r>
          </a:p>
          <a:p>
            <a:pPr>
              <a:spcAft>
                <a:spcPts val="1200"/>
              </a:spcAft>
              <a:defRPr sz="1700" b="0">
                <a:solidFill>
                  <a:srgbClr val="183343"/>
                </a:solidFill>
                <a:latin typeface="Microsoft YaHei"/>
              </a:defRPr>
            </a:pPr>
            <a:r>
              <a:t>搜索范围交替变化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715000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287D8D"/>
                </a:solidFill>
                <a:latin typeface="Microsoft YaHei"/>
              </a:defRPr>
            </a:pPr>
            <a:r>
              <a:t>重新扩大搜索范围，为跳出局部最优提供机会。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800" b="1">
                <a:solidFill>
                  <a:srgbClr val="183343"/>
                </a:solidFill>
                <a:latin typeface="Microsoft YaHei"/>
              </a:defRPr>
            </a:pPr>
            <a:r>
              <a:t>正交组合与动态规划构成每轮寻优过程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55664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76774"/>
                </a:solidFill>
                <a:latin typeface="Microsoft YaHei"/>
              </a:defRPr>
            </a:pPr>
            <a:r>
              <a:t>依据：第4节，式12–14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76774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600" b="1">
                <a:solidFill>
                  <a:srgbClr val="287D8D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25603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183343"/>
                </a:solidFill>
                <a:latin typeface="Microsoft YaHei"/>
              </a:defRPr>
            </a:pPr>
            <a:r>
              <a:t>初始水位过程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82880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600" b="1">
                <a:solidFill>
                  <a:srgbClr val="287D8D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743200"/>
            <a:ext cx="25603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183343"/>
                </a:solidFill>
                <a:latin typeface="Microsoft YaHei"/>
              </a:defRPr>
            </a:pPr>
            <a:r>
              <a:t>正交组合方案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600" b="1">
                <a:solidFill>
                  <a:srgbClr val="287D8D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743200"/>
            <a:ext cx="25603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183343"/>
                </a:solidFill>
                <a:latin typeface="Microsoft YaHei"/>
              </a:defRPr>
            </a:pPr>
            <a:r>
              <a:t>高斯扰动候选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82880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600" b="1">
                <a:solidFill>
                  <a:srgbClr val="287D8D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2743200"/>
            <a:ext cx="25603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183343"/>
                </a:solidFill>
                <a:latin typeface="Microsoft YaHei"/>
              </a:defRPr>
            </a:pPr>
            <a:r>
              <a:t>动态规划选优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2062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183343"/>
                </a:solidFill>
                <a:latin typeface="Microsoft YaHei"/>
              </a:defRPr>
            </a:pPr>
            <a:r>
              <a:t>更新当前方案，重复候选生成与动态规划，直至最大迭代次数。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715000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287D8D"/>
                </a:solidFill>
                <a:latin typeface="Microsoft YaHei"/>
              </a:defRPr>
            </a:pPr>
            <a:r>
              <a:t>标准差随余弦平方变化，控制每轮搜索范围。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800" b="1">
                <a:solidFill>
                  <a:srgbClr val="183343"/>
                </a:solidFill>
                <a:latin typeface="Microsoft YaHei"/>
              </a:defRPr>
            </a:pPr>
            <a:r>
              <a:t>验证从二维函数延伸到真实水库群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55664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76774"/>
                </a:solidFill>
                <a:latin typeface="Microsoft YaHei"/>
              </a:defRPr>
            </a:pPr>
            <a:r>
              <a:t>依据：第3.4节、第5节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76774"/>
                </a:solidFill>
                <a:latin typeface="Microsoft YaHei"/>
              </a:defRPr>
            </a:pPr>
            <a:r>
              <a:t>06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6984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621792"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验证对象</a:t>
                      </a:r>
                    </a:p>
                  </a:txBody>
                  <a:tcPr>
                    <a:solidFill>
                      <a:srgbClr val="287D8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设置</a:t>
                      </a:r>
                    </a:p>
                  </a:txBody>
                  <a:tcPr>
                    <a:solidFill>
                      <a:srgbClr val="287D8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检验问题</a:t>
                      </a:r>
                    </a:p>
                  </a:txBody>
                  <a:tcPr>
                    <a:solidFill>
                      <a:srgbClr val="287D8D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测试函数</a:t>
                      </a:r>
                    </a:p>
                  </a:txBody>
                  <a:tcPr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Schaffer、Shubert</a:t>
                      </a:r>
                    </a:p>
                  </a:txBody>
                  <a:tcPr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能否接近已知最优值</a:t>
                      </a:r>
                    </a:p>
                  </a:txBody>
                  <a:tcPr>
                    <a:solidFill>
                      <a:srgbClr val="F0F5F7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初始解敏感性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Schaffer，100组初始解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对起始位置是否敏感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参数敏感性</a:t>
                      </a:r>
                    </a:p>
                  </a:txBody>
                  <a:tcPr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标准差初值与终值分别变化</a:t>
                      </a:r>
                    </a:p>
                  </a:txBody>
                  <a:tcPr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参数变化对精度的影响</a:t>
                      </a:r>
                    </a:p>
                  </a:txBody>
                  <a:tcPr>
                    <a:solidFill>
                      <a:srgbClr val="F0F5F7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工程算例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乌江流域，2018年径流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调度收益与计算耗时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715000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287D8D"/>
                </a:solidFill>
                <a:latin typeface="Microsoft YaHei"/>
              </a:defRPr>
            </a:pPr>
            <a:r>
              <a:t>测试函数的稳定性与工程调度的稳定性需分别评价。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800" b="1">
                <a:solidFill>
                  <a:srgbClr val="183343"/>
                </a:solidFill>
                <a:latin typeface="Microsoft YaHei"/>
              </a:defRPr>
            </a:pPr>
            <a:r>
              <a:t>改进算法在测试函数上更接近已知最优值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55664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76774"/>
                </a:solidFill>
                <a:latin typeface="Microsoft YaHei"/>
              </a:defRPr>
            </a:pPr>
            <a:r>
              <a:t>依据：第3.4.1节，原文表1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76774"/>
                </a:solidFill>
                <a:latin typeface="Microsoft YaHei"/>
              </a:defRPr>
            </a:pPr>
            <a:r>
              <a:t>07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731520"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函数</a:t>
                      </a:r>
                    </a:p>
                  </a:txBody>
                  <a:tcPr>
                    <a:solidFill>
                      <a:srgbClr val="287D8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ODDDP</a:t>
                      </a:r>
                    </a:p>
                  </a:txBody>
                  <a:tcPr>
                    <a:solidFill>
                      <a:srgbClr val="287D8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IWO-ODDDP</a:t>
                      </a:r>
                    </a:p>
                  </a:txBody>
                  <a:tcPr>
                    <a:solidFill>
                      <a:srgbClr val="287D8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M-IWO-ODDDP</a:t>
                      </a:r>
                    </a:p>
                  </a:txBody>
                  <a:tcPr>
                    <a:solidFill>
                      <a:srgbClr val="287D8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Schaffer</a:t>
                      </a:r>
                    </a:p>
                  </a:txBody>
                  <a:tcPr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0.037227</a:t>
                      </a:r>
                    </a:p>
                  </a:txBody>
                  <a:tcPr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0.009716</a:t>
                      </a:r>
                    </a:p>
                  </a:txBody>
                  <a:tcPr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2.00 × 10⁻¹²</a:t>
                      </a:r>
                    </a:p>
                  </a:txBody>
                  <a:tcPr>
                    <a:solidFill>
                      <a:srgbClr val="F0F5F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Shubert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−186.617395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−186.730909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−186.730909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715000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287D8D"/>
                </a:solidFill>
                <a:latin typeface="Microsoft YaHei"/>
              </a:defRPr>
            </a:pPr>
            <a:r>
              <a:t>二维测试支持搜索能力改善，尚不能替代高维验证。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800" b="1">
                <a:solidFill>
                  <a:srgbClr val="183343"/>
                </a:solidFill>
                <a:latin typeface="Microsoft YaHei"/>
              </a:defRPr>
            </a:pPr>
            <a:r>
              <a:t>乌江算例以18种正交组合生成候选状态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55664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76774"/>
                </a:solidFill>
                <a:latin typeface="Microsoft YaHei"/>
              </a:defRPr>
            </a:pPr>
            <a:r>
              <a:t>依据：第5节，原文图3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76774"/>
                </a:solidFill>
                <a:latin typeface="Microsoft YaHei"/>
              </a:defRPr>
            </a:pPr>
            <a:r>
              <a:t>08</a:t>
            </a:r>
          </a:p>
        </p:txBody>
      </p:sp>
      <p:pic>
        <p:nvPicPr>
          <p:cNvPr id="5" name="Picture 4" descr="fig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7495" y="1645919"/>
            <a:ext cx="7866529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4343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183343"/>
                </a:solidFill>
                <a:latin typeface="Microsoft YaHei"/>
              </a:defRPr>
            </a:pPr>
            <a:r>
              <a:t>7因素、3水平、18种组合</a:t>
            </a:r>
          </a:p>
          <a:p>
            <a:pPr>
              <a:spcAft>
                <a:spcPts val="1200"/>
              </a:spcAft>
              <a:defRPr sz="2000" b="0">
                <a:solidFill>
                  <a:srgbClr val="183343"/>
                </a:solidFill>
                <a:latin typeface="Microsoft YaHei"/>
              </a:defRPr>
            </a:pPr>
            <a:r>
              <a:t>标准差初值10，终值0.001，初始方案采用等流量法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800" b="1">
                <a:solidFill>
                  <a:srgbClr val="183343"/>
                </a:solidFill>
                <a:latin typeface="Microsoft YaHei"/>
              </a:defRPr>
            </a:pPr>
            <a:r>
              <a:t>改进方案提高收益，相同迭代次数下耗时接近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55664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76774"/>
                </a:solidFill>
                <a:latin typeface="Microsoft YaHei"/>
              </a:defRPr>
            </a:pPr>
            <a:r>
              <a:t>依据：第5.1节，原文图4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76774"/>
                </a:solidFill>
                <a:latin typeface="Microsoft YaHei"/>
              </a:defRPr>
            </a:pPr>
            <a:r>
              <a:t>09</a:t>
            </a:r>
          </a:p>
        </p:txBody>
      </p:sp>
      <p:pic>
        <p:nvPicPr>
          <p:cNvPr id="5" name="Picture 4" descr="fi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6560" y="1417320"/>
            <a:ext cx="5348398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715000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287D8D"/>
                </a:solidFill>
                <a:latin typeface="Microsoft YaHei"/>
              </a:defRPr>
            </a:pPr>
            <a:r>
              <a:t>更好的搜索结果伴随随机波动，未证明全面的速度优势。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800" b="1">
                <a:solidFill>
                  <a:srgbClr val="183343"/>
                </a:solidFill>
                <a:latin typeface="Microsoft YaHei"/>
              </a:defRPr>
            </a:pPr>
            <a:r>
              <a:t>总出力提高0.30%，弃水流量减少4.07%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55664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76774"/>
                </a:solidFill>
                <a:latin typeface="Microsoft YaHei"/>
              </a:defRPr>
            </a:pPr>
            <a:r>
              <a:t>依据：第5.2节，原文表3；百分比沿用原文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76774"/>
                </a:solidFill>
                <a:latin typeface="Microsoft YaHei"/>
              </a:defRPr>
            </a:pPr>
            <a:r>
              <a:t>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6984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621792"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287D8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ODDDP</a:t>
                      </a:r>
                    </a:p>
                  </a:txBody>
                  <a:tcPr>
                    <a:solidFill>
                      <a:srgbClr val="287D8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M-IWO-ODDDP</a:t>
                      </a:r>
                    </a:p>
                  </a:txBody>
                  <a:tcPr>
                    <a:solidFill>
                      <a:srgbClr val="287D8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原文变化率</a:t>
                      </a:r>
                    </a:p>
                  </a:txBody>
                  <a:tcPr>
                    <a:solidFill>
                      <a:srgbClr val="287D8D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总弃水流量（m³/s）</a:t>
                      </a:r>
                    </a:p>
                  </a:txBody>
                  <a:tcPr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259.11</a:t>
                      </a:r>
                    </a:p>
                  </a:txBody>
                  <a:tcPr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248.56</a:t>
                      </a:r>
                    </a:p>
                  </a:txBody>
                  <a:tcPr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−4.07%</a:t>
                      </a:r>
                    </a:p>
                  </a:txBody>
                  <a:tcPr>
                    <a:solidFill>
                      <a:srgbClr val="F0F5F7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梯级总出力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原表口径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原表口径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+0.30%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普定水库出力</a:t>
                      </a:r>
                    </a:p>
                  </a:txBody>
                  <a:tcPr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原表口径</a:t>
                      </a:r>
                    </a:p>
                  </a:txBody>
                  <a:tcPr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原表口径</a:t>
                      </a:r>
                    </a:p>
                  </a:txBody>
                  <a:tcPr>
                    <a:solidFill>
                      <a:srgbClr val="F0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+12.70%</a:t>
                      </a:r>
                    </a:p>
                  </a:txBody>
                  <a:tcPr>
                    <a:solidFill>
                      <a:srgbClr val="F0F5F7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大花水水库出力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原表口径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原表口径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>
                          <a:solidFill>
                            <a:srgbClr val="183343"/>
                          </a:solidFill>
                          <a:latin typeface="Microsoft YaHei"/>
                        </a:defRPr>
                      </a:pPr>
                      <a:r>
                        <a:t>+2.85%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715000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287D8D"/>
                </a:solidFill>
                <a:latin typeface="Microsoft YaHei"/>
              </a:defRPr>
            </a:pPr>
            <a:r>
              <a:t>主要收益集中于部分水库，体现整体调度的权衡。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800" b="1">
                <a:solidFill>
                  <a:srgbClr val="183343"/>
                </a:solidFill>
                <a:latin typeface="Microsoft YaHei"/>
              </a:defRPr>
            </a:pPr>
            <a:r>
              <a:t>水位过程解释了水头收益与弃水改善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55664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76774"/>
                </a:solidFill>
                <a:latin typeface="Microsoft YaHei"/>
              </a:defRPr>
            </a:pPr>
            <a:r>
              <a:t>依据：第5.2节，原文图5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76774"/>
                </a:solidFill>
                <a:latin typeface="Microsoft YaHei"/>
              </a:defRPr>
            </a:pPr>
            <a:r>
              <a:t>11</a:t>
            </a:r>
          </a:p>
        </p:txBody>
      </p:sp>
      <p:pic>
        <p:nvPicPr>
          <p:cNvPr id="5" name="Picture 4" descr="fig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2233" y="1371600"/>
            <a:ext cx="4436573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1828800"/>
            <a:ext cx="33832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83343"/>
                </a:solidFill>
                <a:latin typeface="Microsoft YaHei"/>
              </a:defRPr>
            </a:pPr>
            <a:r>
              <a:t>水头效益</a:t>
            </a:r>
          </a:p>
          <a:p>
            <a:pPr>
              <a:spcAft>
                <a:spcPts val="1200"/>
              </a:spcAft>
              <a:defRPr sz="1800" b="0">
                <a:solidFill>
                  <a:srgbClr val="183343"/>
                </a:solidFill>
                <a:latin typeface="Microsoft YaHei"/>
              </a:defRPr>
            </a:pPr>
            <a:r>
              <a:t>部分水库维持较高水位</a:t>
            </a:r>
          </a:p>
          <a:p>
            <a:pPr>
              <a:spcAft>
                <a:spcPts val="1200"/>
              </a:spcAft>
              <a:defRPr sz="1800" b="0">
                <a:solidFill>
                  <a:srgbClr val="183343"/>
                </a:solidFill>
                <a:latin typeface="Microsoft YaHei"/>
              </a:defRPr>
            </a:pPr>
          </a:p>
          <a:p>
            <a:pPr>
              <a:spcAft>
                <a:spcPts val="1200"/>
              </a:spcAft>
              <a:defRPr sz="1800" b="0">
                <a:solidFill>
                  <a:srgbClr val="183343"/>
                </a:solidFill>
                <a:latin typeface="Microsoft YaHei"/>
              </a:defRPr>
            </a:pPr>
            <a:r>
              <a:t>蓄泄安排</a:t>
            </a:r>
          </a:p>
          <a:p>
            <a:pPr>
              <a:spcAft>
                <a:spcPts val="1200"/>
              </a:spcAft>
              <a:defRPr sz="1800" b="0">
                <a:solidFill>
                  <a:srgbClr val="183343"/>
                </a:solidFill>
                <a:latin typeface="Microsoft YaHei"/>
              </a:defRPr>
            </a:pPr>
            <a:r>
              <a:t>普定6月末更充分蓄水</a:t>
            </a:r>
          </a:p>
          <a:p>
            <a:pPr>
              <a:spcAft>
                <a:spcPts val="1200"/>
              </a:spcAft>
              <a:defRPr sz="1800" b="0">
                <a:solidFill>
                  <a:srgbClr val="183343"/>
                </a:solidFill>
                <a:latin typeface="Microsoft YaHei"/>
              </a:defRPr>
            </a:pPr>
          </a:p>
          <a:p>
            <a:pPr>
              <a:spcAft>
                <a:spcPts val="1200"/>
              </a:spcAft>
              <a:defRPr sz="1800" b="0">
                <a:solidFill>
                  <a:srgbClr val="183343"/>
                </a:solidFill>
                <a:latin typeface="Microsoft YaHei"/>
              </a:defRPr>
            </a:pPr>
            <a:r>
              <a:t>边界约束</a:t>
            </a:r>
          </a:p>
          <a:p>
            <a:pPr>
              <a:spcAft>
                <a:spcPts val="1200"/>
              </a:spcAft>
              <a:defRPr sz="1800" b="0">
                <a:solidFill>
                  <a:srgbClr val="183343"/>
                </a:solidFill>
                <a:latin typeface="Microsoft YaHei"/>
              </a:defRPr>
            </a:pPr>
            <a:r>
              <a:t>汛限与末水位约束影响过程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715000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287D8D"/>
                </a:solidFill>
                <a:latin typeface="Microsoft YaHei"/>
              </a:defRPr>
            </a:pPr>
            <a:r>
              <a:t>算法性能差异最终表现为可解释的蓄泄方案差异。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800" b="1">
                <a:solidFill>
                  <a:srgbClr val="183343"/>
                </a:solidFill>
                <a:latin typeface="Microsoft YaHei"/>
              </a:defRPr>
            </a:pPr>
            <a:r>
              <a:t>证据支持工程改进，也限定了结论范围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55664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76774"/>
                </a:solidFill>
                <a:latin typeface="Microsoft YaHei"/>
              </a:defRPr>
            </a:pPr>
            <a:r>
              <a:t>依据：第6节；下列验证建议为汇报者评议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0996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576774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287D8D"/>
                </a:solidFill>
                <a:latin typeface="Microsoft YaHei"/>
              </a:defRPr>
            </a:pPr>
            <a:r>
              <a:t>已有证据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8483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183343"/>
                </a:solidFill>
                <a:latin typeface="Microsoft YaHei"/>
              </a:defRPr>
            </a:pPr>
            <a:r>
              <a:t>二维函数接近最优，单流域算例获得更高收益。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287D8D"/>
                </a:solidFill>
                <a:latin typeface="Microsoft YaHei"/>
              </a:defRPr>
            </a:pPr>
            <a:r>
              <a:t>适用边界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8211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183343"/>
                </a:solidFill>
                <a:latin typeface="Microsoft YaHei"/>
              </a:defRPr>
            </a:pPr>
            <a:r>
              <a:t>工程结果存在随机波动，缺少跨年份验证。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287D8D"/>
                </a:solidFill>
                <a:latin typeface="Microsoft YaHei"/>
              </a:defRPr>
            </a:pPr>
            <a:r>
              <a:t>复现重点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7939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183343"/>
                </a:solidFill>
                <a:latin typeface="Microsoft YaHei"/>
              </a:defRPr>
            </a:pPr>
            <a:r>
              <a:t>多随机种子、等时间预算，并报告结果分布。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715000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287D8D"/>
                </a:solidFill>
                <a:latin typeface="Microsoft YaHei"/>
              </a:defRPr>
            </a:pPr>
            <a:r>
              <a:t>关键启发：在局部精细搜索之外，保留重新探索的机会。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